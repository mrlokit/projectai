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 Slab" panose="020B0604020202020204" charset="0"/>
      <p:regular r:id="rId13"/>
    </p:embeddedFont>
    <p:embeddedFont>
      <p:font typeface="Roboto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ckwell" panose="02060603020205020403" pitchFamily="18" charset="0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  <a:srgbClr val="161E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2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291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-4-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5.svg"/><Relationship Id="rId5" Type="http://schemas.openxmlformats.org/officeDocument/2006/relationships/image" Target="../media/image-4-3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" panose="020B0604020202020204" charset="0"/>
                <a:cs typeface="Roboto Slab" pitchFamily="34" charset="-120"/>
              </a:rPr>
              <a:t>Распознавание голоса с помощью нейросетей</a:t>
            </a:r>
            <a:endParaRPr lang="en-US" sz="4450" dirty="0">
              <a:latin typeface="Rockwell" panose="02060603020205020403" pitchFamily="18" charset="0"/>
              <a:ea typeface="Roboto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3508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</a:t>
            </a:r>
            <a:r>
              <a:rPr lang="en-US" sz="1750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ссистент: 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интеллектуальная система обработки речи на основе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глубокого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обучения</a:t>
            </a:r>
            <a:endParaRPr lang="en-US" sz="1750" dirty="0" smtClean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 smtClean="0">
              <a:solidFill>
                <a:srgbClr val="D6E5EF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ru-RU" sz="1750" dirty="0" smtClean="0">
              <a:solidFill>
                <a:srgbClr val="D6E5EF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Ерошенко Т.А.</a:t>
            </a: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 </a:t>
            </a:r>
            <a:endParaRPr lang="ru-RU" sz="1750" dirty="0" smtClean="0">
              <a:solidFill>
                <a:srgbClr val="D6E5EF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Киселев К.В.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 err="1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Селиваева</a:t>
            </a:r>
            <a:r>
              <a:rPr lang="ru-RU" sz="1750" dirty="0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 А.Д.</a:t>
            </a:r>
            <a:endParaRPr lang="en-US" sz="1750" dirty="0" smtClean="0">
              <a:solidFill>
                <a:srgbClr val="D6E5EF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chemeClr val="bg1"/>
              </a:solidFill>
              <a:latin typeface="Roboto" pitchFamily="34" charset="0"/>
              <a:ea typeface="Roboto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112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Этап 1: Инициализация системы</a:t>
            </a:r>
            <a:endParaRPr lang="en-US" sz="4450" dirty="0">
              <a:latin typeface="Rockwell" panose="02060603020205020403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323987"/>
            <a:ext cx="3664744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3498294"/>
            <a:ext cx="2874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Загрузка библиотек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3988713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speech_recognition, pyttsx3, TensorFlow, scikit-learn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748" y="3323987"/>
            <a:ext cx="3664863" cy="3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71748" y="3498294"/>
            <a:ext cx="36648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Инициализация компонентов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71748" y="4343043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Распознаватель речи, микрофон, синтезатор текста в речь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797987"/>
            <a:ext cx="7556421" cy="30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0190" y="5995035"/>
            <a:ext cx="34709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Калибровка микрофона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80190" y="64854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Адаптация к окружающему шуму в течение 3 секунд</a:t>
            </a:r>
            <a:endParaRPr lang="en-US" sz="175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12620231" y="7787369"/>
            <a:ext cx="1997923" cy="423182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7273"/>
            <a:ext cx="7479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Этап 2: Создание датасета</a:t>
            </a:r>
            <a:endParaRPr lang="en-US" sz="4450" dirty="0">
              <a:latin typeface="Rockwell" panose="020606030202050204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996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Построение УЛЬТРА-МЕГА датасета с 6 категориями намерений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17733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0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Приветствия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53496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50+ вариаций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17733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7655362" y="30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Время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353496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40+ вариаций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351496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Дата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0604" y="506872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40+ вариаций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4351496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4" name="Text 12"/>
          <p:cNvSpPr/>
          <p:nvPr/>
        </p:nvSpPr>
        <p:spPr>
          <a:xfrm>
            <a:off x="7655362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Вычисления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55362" y="506872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50+ вариаций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885259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604" y="6112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Благодарность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0604" y="660249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40+ вариаций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885259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20" name="Text 18"/>
          <p:cNvSpPr/>
          <p:nvPr/>
        </p:nvSpPr>
        <p:spPr>
          <a:xfrm>
            <a:off x="7655362" y="6112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Прощание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55362" y="660249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40+ вариаций</a:t>
            </a:r>
            <a:endParaRPr lang="en-US" sz="1750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12620231" y="7787369"/>
            <a:ext cx="1997923" cy="423182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982158"/>
            <a:ext cx="84584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Этап 3: Предобработка текста</a:t>
            </a:r>
            <a:endParaRPr lang="en-US" sz="4450" dirty="0">
              <a:latin typeface="Rockwell" panose="02060603020205020403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4038124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Нормализация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452151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Преобразование в нижний регистр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0903" y="4038124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7300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Очистка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5973008" y="452151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Удаление спецсимволов, сохранение пунктуации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3006" y="4038124"/>
            <a:ext cx="340162" cy="3401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15111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Токенизация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0415111" y="452151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Разделение на слова, удаление лишних пробелов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992868"/>
            <a:ext cx="82242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Этап 4: Векторизация текста</a:t>
            </a:r>
            <a:endParaRPr lang="en-US" sz="4450" dirty="0">
              <a:latin typeface="Rockwell" panose="020606030202050204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0418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TF-IDF преобразование с профессиональными параметрами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886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Параметры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4678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N-граммы: 1-3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9100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Макс. признаков: 2000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3522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Нормализация: L2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7944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Сублинейная TF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3886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Результат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99521" y="44678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Каждый текст преобразуется в вектор размерностью 2000, отражающий важность слов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557" y="507206"/>
            <a:ext cx="7333893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Этап 5: Архитектура нейросети</a:t>
            </a:r>
            <a:endParaRPr lang="en-US" sz="3600" dirty="0">
              <a:latin typeface="Rockwell" panose="020606030202050204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5557" y="1452443"/>
            <a:ext cx="13339286" cy="1108472"/>
          </a:xfrm>
          <a:prstGeom prst="roundRect">
            <a:avLst>
              <a:gd name="adj" fmla="val 249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8417" y="1475303"/>
            <a:ext cx="184428" cy="1062752"/>
          </a:xfrm>
          <a:prstGeom prst="roundRect">
            <a:avLst>
              <a:gd name="adj" fmla="val 129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1037272" y="1659731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Входной слой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37272" y="2058591"/>
            <a:ext cx="1292471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2000 признаков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22139" y="2745343"/>
            <a:ext cx="13062704" cy="1108472"/>
          </a:xfrm>
          <a:prstGeom prst="roundRect">
            <a:avLst>
              <a:gd name="adj" fmla="val 249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999" y="2768203"/>
            <a:ext cx="184428" cy="1062752"/>
          </a:xfrm>
          <a:prstGeom prst="roundRect">
            <a:avLst>
              <a:gd name="adj" fmla="val 129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1313855" y="2952631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Dense 1024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13855" y="3351490"/>
            <a:ext cx="1264812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ReLU + BatchNorm + Dropout 0.6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198840" y="4038243"/>
            <a:ext cx="12786003" cy="1108472"/>
          </a:xfrm>
          <a:prstGeom prst="roundRect">
            <a:avLst>
              <a:gd name="adj" fmla="val 249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1700" y="4061103"/>
            <a:ext cx="184428" cy="1062752"/>
          </a:xfrm>
          <a:prstGeom prst="roundRect">
            <a:avLst>
              <a:gd name="adj" fmla="val 129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1590556" y="4245531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Dense 512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90556" y="4644390"/>
            <a:ext cx="1237142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ReLU + BatchNorm + Dropout 0.5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475542" y="5331143"/>
            <a:ext cx="12509302" cy="1108472"/>
          </a:xfrm>
          <a:prstGeom prst="roundRect">
            <a:avLst>
              <a:gd name="adj" fmla="val 249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8402" y="5354002"/>
            <a:ext cx="184428" cy="1062752"/>
          </a:xfrm>
          <a:prstGeom prst="roundRect">
            <a:avLst>
              <a:gd name="adj" fmla="val 129"/>
            </a:avLst>
          </a:prstGeom>
          <a:solidFill>
            <a:srgbClr val="3F4652"/>
          </a:solidFill>
          <a:ln/>
        </p:spPr>
      </p:sp>
      <p:sp>
        <p:nvSpPr>
          <p:cNvPr id="17" name="Text 15"/>
          <p:cNvSpPr/>
          <p:nvPr/>
        </p:nvSpPr>
        <p:spPr>
          <a:xfrm>
            <a:off x="1867257" y="5538430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Dense 256-64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67257" y="5937290"/>
            <a:ext cx="1209472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Прогрессивное сжатие с регуляризацией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198840" y="6624042"/>
            <a:ext cx="12786003" cy="1108472"/>
          </a:xfrm>
          <a:prstGeom prst="roundRect">
            <a:avLst>
              <a:gd name="adj" fmla="val 249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21700" y="6646902"/>
            <a:ext cx="184428" cy="1062752"/>
          </a:xfrm>
          <a:prstGeom prst="roundRect">
            <a:avLst>
              <a:gd name="adj" fmla="val 129"/>
            </a:avLst>
          </a:prstGeom>
          <a:solidFill>
            <a:srgbClr val="3F4652"/>
          </a:solidFill>
          <a:ln/>
        </p:spPr>
      </p:sp>
      <p:sp>
        <p:nvSpPr>
          <p:cNvPr id="21" name="Text 19"/>
          <p:cNvSpPr/>
          <p:nvPr/>
        </p:nvSpPr>
        <p:spPr>
          <a:xfrm>
            <a:off x="1590556" y="6831330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Выходной слой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90556" y="7230189"/>
            <a:ext cx="1237142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классов (намерения) + Softmax</a:t>
            </a:r>
            <a:endParaRPr lang="en-US" sz="145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12620231" y="7787369"/>
            <a:ext cx="1997923" cy="423182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7512"/>
            <a:ext cx="71947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Этап 6: Обучение модели</a:t>
            </a:r>
            <a:endParaRPr lang="en-US" sz="4450" dirty="0">
              <a:latin typeface="Rockwell" panose="020606030202050204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174319"/>
            <a:ext cx="28680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Разделение данных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85% обучение, 15% валидация со стратификацией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3559135"/>
            <a:ext cx="28474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Оптимизатор Adam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rate 0.0005, профессиональные параметры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Callbacks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Stopping, ReduceLROnPlateau, ModelCheckpoint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7" name="Text 14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Параметры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 эпох, batch size 64, L2 регуляризация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49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Этап 7: Предсказание намерения</a:t>
            </a:r>
            <a:endParaRPr lang="en-US" sz="4450" dirty="0">
              <a:latin typeface="Rockwell" panose="020606030202050204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5294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Процесс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1063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Предобработка текста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55283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Векторизация TF-IDF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99502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Прямой проход через сеть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43722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Получение вероятностей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87942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Выбор класса с макс. вероятностью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35294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Адаптивный порог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42721" y="411063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Уверенность &gt; 0.6 = распознано, иначе "unknown"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04051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Высокий порог обеспечивает надежность</a:t>
            </a:r>
            <a:endParaRPr lang="en-US" sz="17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620231" y="7787369"/>
            <a:ext cx="1997923" cy="423182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473285"/>
            <a:ext cx="74166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Этап 8: Обработка команд</a:t>
            </a:r>
            <a:endParaRPr lang="en-US" sz="4450" dirty="0">
              <a:latin typeface="Rockwell" panose="020606030202050204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3522226"/>
            <a:ext cx="13042821" cy="1615916"/>
          </a:xfrm>
          <a:prstGeom prst="roundRect">
            <a:avLst>
              <a:gd name="adj" fmla="val 2106"/>
            </a:avLst>
          </a:prstGeom>
          <a:solidFill>
            <a:srgbClr val="3F4652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3522226"/>
            <a:ext cx="6521410" cy="807958"/>
          </a:xfrm>
          <a:prstGeom prst="roundRect">
            <a:avLst>
              <a:gd name="adj" fmla="val 4211"/>
            </a:avLst>
          </a:prstGeom>
          <a:solidFill>
            <a:srgbClr val="3F4652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3749040"/>
            <a:ext cx="29695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Распознавание речи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315200" y="3522226"/>
            <a:ext cx="6521410" cy="807958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0" y="3522226"/>
            <a:ext cx="30480" cy="80795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0" name="Text 7"/>
          <p:cNvSpPr/>
          <p:nvPr/>
        </p:nvSpPr>
        <p:spPr>
          <a:xfrm>
            <a:off x="7542014" y="3749040"/>
            <a:ext cx="3600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Определение намерения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93790" y="4330184"/>
            <a:ext cx="6521410" cy="807958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2" name="Shape 9"/>
          <p:cNvSpPr/>
          <p:nvPr/>
        </p:nvSpPr>
        <p:spPr>
          <a:xfrm>
            <a:off x="793790" y="433018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3" name="Text 10"/>
          <p:cNvSpPr/>
          <p:nvPr/>
        </p:nvSpPr>
        <p:spPr>
          <a:xfrm>
            <a:off x="1020604" y="4556998"/>
            <a:ext cx="32814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Выполнение действия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315200" y="4330184"/>
            <a:ext cx="6521410" cy="807958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0" y="4330184"/>
            <a:ext cx="30480" cy="80795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6" name="Shape 13"/>
          <p:cNvSpPr/>
          <p:nvPr/>
        </p:nvSpPr>
        <p:spPr>
          <a:xfrm>
            <a:off x="7315200" y="433018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7" name="Text 14"/>
          <p:cNvSpPr/>
          <p:nvPr/>
        </p:nvSpPr>
        <p:spPr>
          <a:xfrm>
            <a:off x="7542014" y="45569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Синтез ответа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93790" y="53932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Действия: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время, дата, вычисления, ответы на вопросы, прощание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2465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Результаты тестирования</a:t>
            </a:r>
            <a:endParaRPr lang="en-US" sz="4450" dirty="0">
              <a:latin typeface="Rockwell" panose="020606030202050204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78237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</a:t>
            </a:r>
            <a:r>
              <a:rPr lang="en-US" sz="1750" dirty="0" err="1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ейросеть</a:t>
            </a:r>
            <a:r>
              <a:rPr lang="en-US" sz="1750" dirty="0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успешно распознает 19+ тестовых фраз с высокой точностью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87667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ru-RU" sz="5850" dirty="0">
                <a:solidFill>
                  <a:srgbClr val="D6E5EF"/>
                </a:solidFill>
                <a:ea typeface="Roboto Slab" pitchFamily="34" charset="-122"/>
              </a:rPr>
              <a:t>7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6280190" y="4908471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Категорий намерений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575321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Приветствия, время, дата, вычисления, благодарность, </a:t>
            </a:r>
            <a:r>
              <a:rPr lang="en-US" sz="1750" dirty="0" err="1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прощание</a:t>
            </a:r>
            <a:r>
              <a:rPr lang="ru-RU" sz="1750" dirty="0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настроение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893493" y="387667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2000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8893493" y="490847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Признаков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893493" y="539888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Размерность векторизации TF-IDF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1506795" y="387667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5850" dirty="0"/>
          </a:p>
        </p:txBody>
      </p:sp>
      <p:sp>
        <p:nvSpPr>
          <p:cNvPr id="12" name="Text 9"/>
          <p:cNvSpPr/>
          <p:nvPr/>
        </p:nvSpPr>
        <p:spPr>
          <a:xfrm>
            <a:off x="11506795" y="490847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Слоев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506795" y="539888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Глубокая архитектура с регуляризацией</a:t>
            </a:r>
            <a:endParaRPr lang="en-US" sz="175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2620231" y="7787369"/>
            <a:ext cx="1997923" cy="423182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355</Words>
  <Application>Microsoft Office PowerPoint</Application>
  <PresentationFormat>Произвольный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Roboto Slab</vt:lpstr>
      <vt:lpstr>Arial</vt:lpstr>
      <vt:lpstr>Roboto</vt:lpstr>
      <vt:lpstr>Calibri</vt:lpstr>
      <vt:lpstr>Rockwell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MrLokit</dc:creator>
  <cp:lastModifiedBy>Учетная запись Майкрософт</cp:lastModifiedBy>
  <cp:revision>10</cp:revision>
  <dcterms:created xsi:type="dcterms:W3CDTF">2025-10-27T18:19:31Z</dcterms:created>
  <dcterms:modified xsi:type="dcterms:W3CDTF">2025-10-29T10:24:40Z</dcterms:modified>
</cp:coreProperties>
</file>